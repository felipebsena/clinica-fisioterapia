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fab791c1fa4bb0" /><Relationship Type="http://schemas.openxmlformats.org/officeDocument/2006/relationships/extended-properties" Target="/docProps/app.xml" Id="Rae12e9d889fc4c35" /><Relationship Type="http://schemas.openxmlformats.org/officeDocument/2006/relationships/officeDocument" Target="/ppt/presentation.xml" Id="Rac4256136f5f4f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f64bab2c0f4eb2"/>
  </p:sldMasterIdLst>
  <p:notesMasterIdLst>
    <p:notesMasterId xmlns:r="http://schemas.openxmlformats.org/officeDocument/2006/relationships" r:id="R219b0023e2304e06"/>
  </p:notesMasterIdLst>
  <p:sldIdLst>
    <p:sldId xmlns:r="http://schemas.openxmlformats.org/officeDocument/2006/relationships" id="256" r:id="R73dac1b8ae33485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4077f80d824f0b" /><Relationship Type="http://schemas.openxmlformats.org/officeDocument/2006/relationships/slideMaster" Target="/ppt/slideMasters/slideMaster1.xml" Id="R11f64bab2c0f4eb2" /><Relationship Type="http://schemas.openxmlformats.org/officeDocument/2006/relationships/notesMaster" Target="/ppt/notesMasters/notesMaster1.xml" Id="R219b0023e2304e06" /><Relationship Type="http://schemas.openxmlformats.org/officeDocument/2006/relationships/presProps" Target="/ppt/presProps.xml" Id="R06e46f931266442d" /><Relationship Type="http://schemas.openxmlformats.org/officeDocument/2006/relationships/tableStyles" Target="/ppt/tableStyles.xml" Id="R16f6c2dc79ac42c2" /><Relationship Type="http://schemas.openxmlformats.org/officeDocument/2006/relationships/slide" Target="/ppt/slides/slide1.xml" Id="R73dac1b8ae3348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b60dae52f947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4256f150524fde" /><Relationship Type="http://schemas.openxmlformats.org/officeDocument/2006/relationships/notesMaster" Target="/ppt/notesMasters/notesMaster1.xml" Id="R881600ddaaa0440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Minha parte foi reunir e conferir a documentação do banco. O dicionário descreve as 15 tabelas e os 71 campos. No relatório, juntei as duas etapas e registrei as decisões e os resultados dos testes. A validação teve 54 testes sem falhas em uma base local isolada, incluindo integridade, permissões, auditoria e restauração de backup. Também documentei o plano de backup e a estimativa de crescimento, com as hipóteses do relatório de Felipe. Os documentos e as evidências estão na pasta docs do repositório.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docs/fontes/relatorio.md, docs/fontes/dicionario-dados.md e docs/apoio/evidencias.json, commit 5741675. https://github.com/FelipebSena/Clinica-Fisioterapia/tree/docs/david-validacao/docs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plano de backup e a estimativa de crescimento são planejamento. Os testes ocorreram em ambiente acadêmico local, não em produção.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0a2479e96c4fe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c4811e2cbd471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2ae877f2044d0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46f4ab49b348f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33392d0e9f4c1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54f9ea4dba40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B795D96-A7F0-43FA-8142-267B61E343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78AC642-4911-4126-85B7-2AB490EFF72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CB833D2-1ADD-4170-ADAA-975FCDEC49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AC2FB77-0909-483B-A119-76C1123886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9309A21-D659-4A1D-8CB9-859BB64E6C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C6BDE49-94FB-47DB-91D3-94847F2FBA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BCB625C-4D3E-4442-8467-163FF4C059C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82963FF-D5F4-420D-BFD3-DC4116EA784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65F8C07-3AE8-443F-8364-A55BE1A1A6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8FD716F-CA08-4C25-A4A2-BE3680156F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543d63ee9884dcd" /><Relationship Type="http://schemas.openxmlformats.org/officeDocument/2006/relationships/slideLayout" Target="/ppt/slideLayouts/slideLayout1.xml" Id="R98ea5cf752ee4805" /><Relationship Type="http://schemas.openxmlformats.org/officeDocument/2006/relationships/slideLayout" Target="/ppt/slideLayouts/slideLayout2.xml" Id="Rfb577f37e3d049e2" /><Relationship Type="http://schemas.openxmlformats.org/officeDocument/2006/relationships/slideLayout" Target="/ppt/slideLayouts/slideLayout3.xml" Id="Rba8448a6503545f6" /><Relationship Type="http://schemas.openxmlformats.org/officeDocument/2006/relationships/slideLayout" Target="/ppt/slideLayouts/slideLayout4.xml" Id="Rf8a7f69d89ab4dae" /><Relationship Type="http://schemas.openxmlformats.org/officeDocument/2006/relationships/slideLayout" Target="/ppt/slideLayouts/slideLayout5.xml" Id="Rc60ab98797bb49b9" /><Relationship Type="http://schemas.openxmlformats.org/officeDocument/2006/relationships/slideLayout" Target="/ppt/slideLayouts/slideLayout6.xml" Id="Re3c8d498df6b462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ea5cf752ee4805"/>
    <p:sldLayoutId xmlns:r="http://schemas.openxmlformats.org/officeDocument/2006/relationships" id="2147483650" r:id="Rfb577f37e3d049e2"/>
    <p:sldLayoutId xmlns:r="http://schemas.openxmlformats.org/officeDocument/2006/relationships" id="2147483651" r:id="Rba8448a6503545f6"/>
    <p:sldLayoutId xmlns:r="http://schemas.openxmlformats.org/officeDocument/2006/relationships" id="2147483652" r:id="Rf8a7f69d89ab4dae"/>
    <p:sldLayoutId xmlns:r="http://schemas.openxmlformats.org/officeDocument/2006/relationships" id="2147483653" r:id="Rc60ab98797bb49b9"/>
    <p:sldLayoutId xmlns:r="http://schemas.openxmlformats.org/officeDocument/2006/relationships" id="2147483654" r:id="Re3c8d498df6b462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bd477e4dc64d7a" /><Relationship Type="http://schemas.openxmlformats.org/officeDocument/2006/relationships/notesSlide" Target="/ppt/notesSlides/notesSlide1.xml" Id="R6e92c4a0158a47a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">
            <a:extLst xmlns:a="http://schemas.openxmlformats.org/drawingml/2006/main">
              <a:ext uri="{FF2B5EF4-FFF2-40B4-BE49-F238E27FC236}">
                <a16:creationId xmlns:a16="http://schemas.microsoft.com/office/drawing/2014/main" id="{8D76FD7D-8AA4-48EF-95B0-CE5E7A18C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73F3A"/>
                </a:solidFill>
              </a:defRPr>
            </a:defPPr>
            <a:lvl1pPr>
              <a:defRPr sz="3600" b="1">
                <a:solidFill>
                  <a:srgbClr val="173F3A"/>
                </a:solidFill>
              </a:defRPr>
            </a:lvl1pPr>
            <a:lvl2pPr>
              <a:defRPr sz="3600" b="1">
                <a:solidFill>
                  <a:srgbClr val="173F3A"/>
                </a:solidFill>
              </a:defRPr>
            </a:lvl2pPr>
            <a:lvl3pPr>
              <a:defRPr sz="3600" b="1">
                <a:solidFill>
                  <a:srgbClr val="173F3A"/>
                </a:solidFill>
              </a:defRPr>
            </a:lvl3pPr>
            <a:lvl4pPr>
              <a:defRPr sz="3600" b="1">
                <a:solidFill>
                  <a:srgbClr val="173F3A"/>
                </a:solidFill>
              </a:defRPr>
            </a:lvl4pPr>
            <a:lvl5pPr>
              <a:defRPr sz="3600" b="1">
                <a:solidFill>
                  <a:srgbClr val="173F3A"/>
                </a:solidFill>
              </a:defRPr>
            </a:lvl5pPr>
            <a:lvl6pPr>
              <a:defRPr sz="3600" b="1">
                <a:solidFill>
                  <a:srgbClr val="173F3A"/>
                </a:solidFill>
              </a:defRPr>
            </a:lvl6pPr>
            <a:lvl7pPr>
              <a:defRPr sz="3600" b="1">
                <a:solidFill>
                  <a:srgbClr val="173F3A"/>
                </a:solidFill>
              </a:defRPr>
            </a:lvl7pPr>
            <a:lvl8pPr>
              <a:defRPr sz="3600" b="1">
                <a:solidFill>
                  <a:srgbClr val="173F3A"/>
                </a:solidFill>
              </a:defRPr>
            </a:lvl8pPr>
            <a:lvl9pPr>
              <a:defRPr sz="3600" b="1">
                <a:solidFill>
                  <a:srgbClr val="173F3A"/>
                </a:solidFill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73F3A"/>
                </a:solidFill>
              </a:defRPr>
            </a:pPr>
            <a:r>
              <a:rPr sz="3600" b="1">
                <a:solidFill>
                  <a:srgbClr val="173F3A"/>
                </a:solidFill>
              </a:rPr>
              <a:t>Documentação e validação</a:t>
            </a:r>
          </a:p>
        </p:txBody>
      </p:sp>
      <p:sp>
        <p:nvSpPr>
          <p:cNvPr id="3" name="Autor">
            <a:extLst xmlns:a="http://schemas.openxmlformats.org/drawingml/2006/main">
              <a:ext uri="{FF2B5EF4-FFF2-40B4-BE49-F238E27FC236}">
                <a16:creationId xmlns:a16="http://schemas.microsoft.com/office/drawing/2014/main" id="{969F5EEE-8D2B-4562-AEE1-D8B3E2029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46863"/>
                </a:solidFill>
              </a:defRPr>
            </a:defPPr>
            <a:lvl1pPr>
              <a:defRPr sz="1725" b="0">
                <a:solidFill>
                  <a:srgbClr val="546863"/>
                </a:solidFill>
              </a:defRPr>
            </a:lvl1pPr>
            <a:lvl2pPr>
              <a:defRPr sz="1725" b="0">
                <a:solidFill>
                  <a:srgbClr val="546863"/>
                </a:solidFill>
              </a:defRPr>
            </a:lvl2pPr>
            <a:lvl3pPr>
              <a:defRPr sz="1725" b="0">
                <a:solidFill>
                  <a:srgbClr val="546863"/>
                </a:solidFill>
              </a:defRPr>
            </a:lvl3pPr>
            <a:lvl4pPr>
              <a:defRPr sz="1725" b="0">
                <a:solidFill>
                  <a:srgbClr val="546863"/>
                </a:solidFill>
              </a:defRPr>
            </a:lvl4pPr>
            <a:lvl5pPr>
              <a:defRPr sz="1725" b="0">
                <a:solidFill>
                  <a:srgbClr val="546863"/>
                </a:solidFill>
              </a:defRPr>
            </a:lvl5pPr>
            <a:lvl6pPr>
              <a:defRPr sz="1725" b="0">
                <a:solidFill>
                  <a:srgbClr val="546863"/>
                </a:solidFill>
              </a:defRPr>
            </a:lvl6pPr>
            <a:lvl7pPr>
              <a:defRPr sz="1725" b="0">
                <a:solidFill>
                  <a:srgbClr val="546863"/>
                </a:solidFill>
              </a:defRPr>
            </a:lvl7pPr>
            <a:lvl8pPr>
              <a:defRPr sz="1725" b="0">
                <a:solidFill>
                  <a:srgbClr val="546863"/>
                </a:solidFill>
              </a:defRPr>
            </a:lvl8pPr>
            <a:lvl9pPr>
              <a:defRPr sz="1725" b="0">
                <a:solidFill>
                  <a:srgbClr val="546863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46863"/>
                </a:solidFill>
              </a:defRPr>
            </a:pPr>
            <a:r>
              <a:rPr sz="1725" b="0">
                <a:solidFill>
                  <a:srgbClr val="546863"/>
                </a:solidFill>
              </a:rPr>
              <a:t>Clínica de Fisioterapia  /  David Fernandes dos Santos</a:t>
            </a:r>
          </a:p>
        </p:txBody>
      </p:sp>
      <p:sp>
        <p:nvSpPr>
          <p:cNvPr id="4" name="Dicionário">
            <a:extLst xmlns:a="http://schemas.openxmlformats.org/drawingml/2006/main">
              <a:ext uri="{FF2B5EF4-FFF2-40B4-BE49-F238E27FC236}">
                <a16:creationId xmlns:a16="http://schemas.microsoft.com/office/drawing/2014/main" id="{9708A6EE-D3B6-45FD-81FB-13E075A4B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73F3A"/>
                </a:solidFill>
              </a:defRPr>
            </a:defPPr>
            <a:lvl1pPr>
              <a:defRPr sz="2100" b="1">
                <a:solidFill>
                  <a:srgbClr val="173F3A"/>
                </a:solidFill>
              </a:defRPr>
            </a:lvl1pPr>
            <a:lvl2pPr>
              <a:defRPr sz="2100" b="1">
                <a:solidFill>
                  <a:srgbClr val="173F3A"/>
                </a:solidFill>
              </a:defRPr>
            </a:lvl2pPr>
            <a:lvl3pPr>
              <a:defRPr sz="2100" b="1">
                <a:solidFill>
                  <a:srgbClr val="173F3A"/>
                </a:solidFill>
              </a:defRPr>
            </a:lvl3pPr>
            <a:lvl4pPr>
              <a:defRPr sz="2100" b="1">
                <a:solidFill>
                  <a:srgbClr val="173F3A"/>
                </a:solidFill>
              </a:defRPr>
            </a:lvl4pPr>
            <a:lvl5pPr>
              <a:defRPr sz="2100" b="1">
                <a:solidFill>
                  <a:srgbClr val="173F3A"/>
                </a:solidFill>
              </a:defRPr>
            </a:lvl5pPr>
            <a:lvl6pPr>
              <a:defRPr sz="2100" b="1">
                <a:solidFill>
                  <a:srgbClr val="173F3A"/>
                </a:solidFill>
              </a:defRPr>
            </a:lvl6pPr>
            <a:lvl7pPr>
              <a:defRPr sz="2100" b="1">
                <a:solidFill>
                  <a:srgbClr val="173F3A"/>
                </a:solidFill>
              </a:defRPr>
            </a:lvl7pPr>
            <a:lvl8pPr>
              <a:defRPr sz="2100" b="1">
                <a:solidFill>
                  <a:srgbClr val="173F3A"/>
                </a:solidFill>
              </a:defRPr>
            </a:lvl8pPr>
            <a:lvl9pPr>
              <a:defRPr sz="2100" b="1">
                <a:solidFill>
                  <a:srgbClr val="173F3A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73F3A"/>
                </a:solidFill>
              </a:defRPr>
            </a:pPr>
            <a:r>
              <a:rPr sz="2100" b="1">
                <a:solidFill>
                  <a:srgbClr val="173F3A"/>
                </a:solidFill>
              </a:rPr>
              <a:t>Dicionário de dados</a:t>
            </a:r>
          </a:p>
        </p:txBody>
      </p:sp>
      <p:sp>
        <p:nvSpPr>
          <p:cNvPr id="5" name="Cobertura">
            <a:extLst xmlns:a="http://schemas.openxmlformats.org/drawingml/2006/main">
              <a:ext uri="{FF2B5EF4-FFF2-40B4-BE49-F238E27FC236}">
                <a16:creationId xmlns:a16="http://schemas.microsoft.com/office/drawing/2014/main" id="{9DAA011E-C7EA-434B-8EF0-D84188495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336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344D47"/>
                </a:solidFill>
              </a:defRPr>
            </a:defPPr>
            <a:lvl1pPr>
              <a:defRPr sz="1875" b="0">
                <a:solidFill>
                  <a:srgbClr val="344D47"/>
                </a:solidFill>
              </a:defRPr>
            </a:lvl1pPr>
            <a:lvl2pPr>
              <a:defRPr sz="1875" b="0">
                <a:solidFill>
                  <a:srgbClr val="344D47"/>
                </a:solidFill>
              </a:defRPr>
            </a:lvl2pPr>
            <a:lvl3pPr>
              <a:defRPr sz="1875" b="0">
                <a:solidFill>
                  <a:srgbClr val="344D47"/>
                </a:solidFill>
              </a:defRPr>
            </a:lvl3pPr>
            <a:lvl4pPr>
              <a:defRPr sz="1875" b="0">
                <a:solidFill>
                  <a:srgbClr val="344D47"/>
                </a:solidFill>
              </a:defRPr>
            </a:lvl4pPr>
            <a:lvl5pPr>
              <a:defRPr sz="1875" b="0">
                <a:solidFill>
                  <a:srgbClr val="344D47"/>
                </a:solidFill>
              </a:defRPr>
            </a:lvl5pPr>
            <a:lvl6pPr>
              <a:defRPr sz="1875" b="0">
                <a:solidFill>
                  <a:srgbClr val="344D47"/>
                </a:solidFill>
              </a:defRPr>
            </a:lvl6pPr>
            <a:lvl7pPr>
              <a:defRPr sz="1875" b="0">
                <a:solidFill>
                  <a:srgbClr val="344D47"/>
                </a:solidFill>
              </a:defRPr>
            </a:lvl7pPr>
            <a:lvl8pPr>
              <a:defRPr sz="1875" b="0">
                <a:solidFill>
                  <a:srgbClr val="344D47"/>
                </a:solidFill>
              </a:defRPr>
            </a:lvl8pPr>
            <a:lvl9pPr>
              <a:defRPr sz="1875" b="0">
                <a:solidFill>
                  <a:srgbClr val="344D47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344D47"/>
                </a:solidFill>
              </a:defRPr>
            </a:pPr>
            <a:r>
              <a:rPr sz="1875" b="0">
                <a:solidFill>
                  <a:srgbClr val="344D47"/>
                </a:solidFill>
              </a:rPr>
              <a:t>15 tabelas e 71 campos, com tipos e restrições.</a:t>
            </a:r>
          </a:p>
        </p:txBody>
      </p:sp>
      <p:sp>
        <p:nvSpPr>
          <p:cNvPr id="6" name="Relatórios">
            <a:extLst xmlns:a="http://schemas.openxmlformats.org/drawingml/2006/main">
              <a:ext uri="{FF2B5EF4-FFF2-40B4-BE49-F238E27FC236}">
                <a16:creationId xmlns:a16="http://schemas.microsoft.com/office/drawing/2014/main" id="{F5CC88D8-FFA5-4783-80E9-B452A6383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147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73F3A"/>
                </a:solidFill>
              </a:defRPr>
            </a:defPPr>
            <a:lvl1pPr>
              <a:defRPr sz="2100" b="1">
                <a:solidFill>
                  <a:srgbClr val="173F3A"/>
                </a:solidFill>
              </a:defRPr>
            </a:lvl1pPr>
            <a:lvl2pPr>
              <a:defRPr sz="2100" b="1">
                <a:solidFill>
                  <a:srgbClr val="173F3A"/>
                </a:solidFill>
              </a:defRPr>
            </a:lvl2pPr>
            <a:lvl3pPr>
              <a:defRPr sz="2100" b="1">
                <a:solidFill>
                  <a:srgbClr val="173F3A"/>
                </a:solidFill>
              </a:defRPr>
            </a:lvl3pPr>
            <a:lvl4pPr>
              <a:defRPr sz="2100" b="1">
                <a:solidFill>
                  <a:srgbClr val="173F3A"/>
                </a:solidFill>
              </a:defRPr>
            </a:lvl4pPr>
            <a:lvl5pPr>
              <a:defRPr sz="2100" b="1">
                <a:solidFill>
                  <a:srgbClr val="173F3A"/>
                </a:solidFill>
              </a:defRPr>
            </a:lvl5pPr>
            <a:lvl6pPr>
              <a:defRPr sz="2100" b="1">
                <a:solidFill>
                  <a:srgbClr val="173F3A"/>
                </a:solidFill>
              </a:defRPr>
            </a:lvl6pPr>
            <a:lvl7pPr>
              <a:defRPr sz="2100" b="1">
                <a:solidFill>
                  <a:srgbClr val="173F3A"/>
                </a:solidFill>
              </a:defRPr>
            </a:lvl7pPr>
            <a:lvl8pPr>
              <a:defRPr sz="2100" b="1">
                <a:solidFill>
                  <a:srgbClr val="173F3A"/>
                </a:solidFill>
              </a:defRPr>
            </a:lvl8pPr>
            <a:lvl9pPr>
              <a:defRPr sz="2100" b="1">
                <a:solidFill>
                  <a:srgbClr val="173F3A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73F3A"/>
                </a:solidFill>
              </a:defRPr>
            </a:pPr>
            <a:r>
              <a:rPr sz="2100" b="1">
                <a:solidFill>
                  <a:srgbClr val="173F3A"/>
                </a:solidFill>
              </a:rPr>
              <a:t>Relatório das etapas 1 e 2</a:t>
            </a:r>
          </a:p>
        </p:txBody>
      </p:sp>
      <p:sp>
        <p:nvSpPr>
          <p:cNvPr id="7" name="Registros">
            <a:extLst xmlns:a="http://schemas.openxmlformats.org/drawingml/2006/main">
              <a:ext uri="{FF2B5EF4-FFF2-40B4-BE49-F238E27FC236}">
                <a16:creationId xmlns:a16="http://schemas.microsoft.com/office/drawing/2014/main" id="{C0003B1C-654A-4193-9A51-71C2FEFA0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528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344D47"/>
                </a:solidFill>
              </a:defRPr>
            </a:defPPr>
            <a:lvl1pPr>
              <a:defRPr sz="1875" b="0">
                <a:solidFill>
                  <a:srgbClr val="344D47"/>
                </a:solidFill>
              </a:defRPr>
            </a:lvl1pPr>
            <a:lvl2pPr>
              <a:defRPr sz="1875" b="0">
                <a:solidFill>
                  <a:srgbClr val="344D47"/>
                </a:solidFill>
              </a:defRPr>
            </a:lvl2pPr>
            <a:lvl3pPr>
              <a:defRPr sz="1875" b="0">
                <a:solidFill>
                  <a:srgbClr val="344D47"/>
                </a:solidFill>
              </a:defRPr>
            </a:lvl3pPr>
            <a:lvl4pPr>
              <a:defRPr sz="1875" b="0">
                <a:solidFill>
                  <a:srgbClr val="344D47"/>
                </a:solidFill>
              </a:defRPr>
            </a:lvl4pPr>
            <a:lvl5pPr>
              <a:defRPr sz="1875" b="0">
                <a:solidFill>
                  <a:srgbClr val="344D47"/>
                </a:solidFill>
              </a:defRPr>
            </a:lvl5pPr>
            <a:lvl6pPr>
              <a:defRPr sz="1875" b="0">
                <a:solidFill>
                  <a:srgbClr val="344D47"/>
                </a:solidFill>
              </a:defRPr>
            </a:lvl6pPr>
            <a:lvl7pPr>
              <a:defRPr sz="1875" b="0">
                <a:solidFill>
                  <a:srgbClr val="344D47"/>
                </a:solidFill>
              </a:defRPr>
            </a:lvl7pPr>
            <a:lvl8pPr>
              <a:defRPr sz="1875" b="0">
                <a:solidFill>
                  <a:srgbClr val="344D47"/>
                </a:solidFill>
              </a:defRPr>
            </a:lvl8pPr>
            <a:lvl9pPr>
              <a:defRPr sz="1875" b="0">
                <a:solidFill>
                  <a:srgbClr val="344D47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344D47"/>
                </a:solidFill>
              </a:defRPr>
            </a:pPr>
            <a:r>
              <a:rPr sz="1875" b="0">
                <a:solidFill>
                  <a:srgbClr val="344D47"/>
                </a:solidFill>
              </a:rPr>
              <a:t>Decisões do projeto, testes e resultados.</a:t>
            </a:r>
          </a:p>
        </p:txBody>
      </p:sp>
      <p:sp>
        <p:nvSpPr>
          <p:cNvPr id="8" name="Planejamento">
            <a:extLst xmlns:a="http://schemas.openxmlformats.org/drawingml/2006/main">
              <a:ext uri="{FF2B5EF4-FFF2-40B4-BE49-F238E27FC236}">
                <a16:creationId xmlns:a16="http://schemas.microsoft.com/office/drawing/2014/main" id="{BC07F6FA-DAC5-4D52-BF7B-9B708144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339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73F3A"/>
                </a:solidFill>
              </a:defRPr>
            </a:defPPr>
            <a:lvl1pPr>
              <a:defRPr sz="2100" b="1">
                <a:solidFill>
                  <a:srgbClr val="173F3A"/>
                </a:solidFill>
              </a:defRPr>
            </a:lvl1pPr>
            <a:lvl2pPr>
              <a:defRPr sz="2100" b="1">
                <a:solidFill>
                  <a:srgbClr val="173F3A"/>
                </a:solidFill>
              </a:defRPr>
            </a:lvl2pPr>
            <a:lvl3pPr>
              <a:defRPr sz="2100" b="1">
                <a:solidFill>
                  <a:srgbClr val="173F3A"/>
                </a:solidFill>
              </a:defRPr>
            </a:lvl3pPr>
            <a:lvl4pPr>
              <a:defRPr sz="2100" b="1">
                <a:solidFill>
                  <a:srgbClr val="173F3A"/>
                </a:solidFill>
              </a:defRPr>
            </a:lvl4pPr>
            <a:lvl5pPr>
              <a:defRPr sz="2100" b="1">
                <a:solidFill>
                  <a:srgbClr val="173F3A"/>
                </a:solidFill>
              </a:defRPr>
            </a:lvl5pPr>
            <a:lvl6pPr>
              <a:defRPr sz="2100" b="1">
                <a:solidFill>
                  <a:srgbClr val="173F3A"/>
                </a:solidFill>
              </a:defRPr>
            </a:lvl6pPr>
            <a:lvl7pPr>
              <a:defRPr sz="2100" b="1">
                <a:solidFill>
                  <a:srgbClr val="173F3A"/>
                </a:solidFill>
              </a:defRPr>
            </a:lvl7pPr>
            <a:lvl8pPr>
              <a:defRPr sz="2100" b="1">
                <a:solidFill>
                  <a:srgbClr val="173F3A"/>
                </a:solidFill>
              </a:defRPr>
            </a:lvl8pPr>
            <a:lvl9pPr>
              <a:defRPr sz="2100" b="1">
                <a:solidFill>
                  <a:srgbClr val="173F3A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73F3A"/>
                </a:solidFill>
              </a:defRPr>
            </a:pPr>
            <a:r>
              <a:rPr sz="2100" b="1">
                <a:solidFill>
                  <a:srgbClr val="173F3A"/>
                </a:solidFill>
              </a:rPr>
              <a:t>Backup e crescimento</a:t>
            </a:r>
          </a:p>
        </p:txBody>
      </p:sp>
      <p:sp>
        <p:nvSpPr>
          <p:cNvPr id="9" name="Plano">
            <a:extLst xmlns:a="http://schemas.openxmlformats.org/drawingml/2006/main">
              <a:ext uri="{FF2B5EF4-FFF2-40B4-BE49-F238E27FC236}">
                <a16:creationId xmlns:a16="http://schemas.microsoft.com/office/drawing/2014/main" id="{983B1AF6-9C14-4297-AAAE-A0E76EA67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720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344D47"/>
                </a:solidFill>
              </a:defRPr>
            </a:defPPr>
            <a:lvl1pPr>
              <a:defRPr sz="1875" b="0">
                <a:solidFill>
                  <a:srgbClr val="344D47"/>
                </a:solidFill>
              </a:defRPr>
            </a:lvl1pPr>
            <a:lvl2pPr>
              <a:defRPr sz="1875" b="0">
                <a:solidFill>
                  <a:srgbClr val="344D47"/>
                </a:solidFill>
              </a:defRPr>
            </a:lvl2pPr>
            <a:lvl3pPr>
              <a:defRPr sz="1875" b="0">
                <a:solidFill>
                  <a:srgbClr val="344D47"/>
                </a:solidFill>
              </a:defRPr>
            </a:lvl3pPr>
            <a:lvl4pPr>
              <a:defRPr sz="1875" b="0">
                <a:solidFill>
                  <a:srgbClr val="344D47"/>
                </a:solidFill>
              </a:defRPr>
            </a:lvl4pPr>
            <a:lvl5pPr>
              <a:defRPr sz="1875" b="0">
                <a:solidFill>
                  <a:srgbClr val="344D47"/>
                </a:solidFill>
              </a:defRPr>
            </a:lvl5pPr>
            <a:lvl6pPr>
              <a:defRPr sz="1875" b="0">
                <a:solidFill>
                  <a:srgbClr val="344D47"/>
                </a:solidFill>
              </a:defRPr>
            </a:lvl6pPr>
            <a:lvl7pPr>
              <a:defRPr sz="1875" b="0">
                <a:solidFill>
                  <a:srgbClr val="344D47"/>
                </a:solidFill>
              </a:defRPr>
            </a:lvl7pPr>
            <a:lvl8pPr>
              <a:defRPr sz="1875" b="0">
                <a:solidFill>
                  <a:srgbClr val="344D47"/>
                </a:solidFill>
              </a:defRPr>
            </a:lvl8pPr>
            <a:lvl9pPr>
              <a:defRPr sz="1875" b="0">
                <a:solidFill>
                  <a:srgbClr val="344D47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344D47"/>
                </a:solidFill>
              </a:defRPr>
            </a:pPr>
            <a:r>
              <a:rPr sz="1875" b="0">
                <a:solidFill>
                  <a:srgbClr val="344D47"/>
                </a:solidFill>
              </a:rPr>
              <a:t>Plano de recuperação e estimativa de expansão.</a:t>
            </a:r>
          </a:p>
        </p:txBody>
      </p:sp>
      <p:sp>
        <p:nvSpPr>
          <p:cNvPr id="10" name="Resultado">
            <a:extLst xmlns:a="http://schemas.openxmlformats.org/drawingml/2006/main">
              <a:ext uri="{FF2B5EF4-FFF2-40B4-BE49-F238E27FC236}">
                <a16:creationId xmlns:a16="http://schemas.microsoft.com/office/drawing/2014/main" id="{6609DB9C-DABE-414C-8DF2-AAA1B58A5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00250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0" b="1">
                <a:solidFill>
                  <a:srgbClr val="176D5B"/>
                </a:solidFill>
              </a:defRPr>
            </a:defPPr>
            <a:lvl1pPr>
              <a:defRPr sz="7500" b="1">
                <a:solidFill>
                  <a:srgbClr val="176D5B"/>
                </a:solidFill>
              </a:defRPr>
            </a:lvl1pPr>
            <a:lvl2pPr>
              <a:defRPr sz="7500" b="1">
                <a:solidFill>
                  <a:srgbClr val="176D5B"/>
                </a:solidFill>
              </a:defRPr>
            </a:lvl2pPr>
            <a:lvl3pPr>
              <a:defRPr sz="7500" b="1">
                <a:solidFill>
                  <a:srgbClr val="176D5B"/>
                </a:solidFill>
              </a:defRPr>
            </a:lvl3pPr>
            <a:lvl4pPr>
              <a:defRPr sz="7500" b="1">
                <a:solidFill>
                  <a:srgbClr val="176D5B"/>
                </a:solidFill>
              </a:defRPr>
            </a:lvl4pPr>
            <a:lvl5pPr>
              <a:defRPr sz="7500" b="1">
                <a:solidFill>
                  <a:srgbClr val="176D5B"/>
                </a:solidFill>
              </a:defRPr>
            </a:lvl5pPr>
            <a:lvl6pPr>
              <a:defRPr sz="7500" b="1">
                <a:solidFill>
                  <a:srgbClr val="176D5B"/>
                </a:solidFill>
              </a:defRPr>
            </a:lvl6pPr>
            <a:lvl7pPr>
              <a:defRPr sz="7500" b="1">
                <a:solidFill>
                  <a:srgbClr val="176D5B"/>
                </a:solidFill>
              </a:defRPr>
            </a:lvl7pPr>
            <a:lvl8pPr>
              <a:defRPr sz="7500" b="1">
                <a:solidFill>
                  <a:srgbClr val="176D5B"/>
                </a:solidFill>
              </a:defRPr>
            </a:lvl8pPr>
            <a:lvl9pPr>
              <a:defRPr sz="7500" b="1">
                <a:solidFill>
                  <a:srgbClr val="176D5B"/>
                </a:solidFill>
              </a:defRPr>
            </a:lvl9pPr>
          </a:lstStyle>
          <a:p xmlns:a="http://schemas.openxmlformats.org/drawingml/2006/main">
            <a:pPr>
              <a:defRPr sz="7500" b="1">
                <a:solidFill>
                  <a:srgbClr val="176D5B"/>
                </a:solidFill>
              </a:defRPr>
            </a:pPr>
            <a:r>
              <a:rPr sz="7500" b="1">
                <a:solidFill>
                  <a:srgbClr val="176D5B"/>
                </a:solidFill>
              </a:rPr>
              <a:t>54</a:t>
            </a:r>
          </a:p>
        </p:txBody>
      </p:sp>
      <p:sp>
        <p:nvSpPr>
          <p:cNvPr id="11" name="Testes">
            <a:extLst xmlns:a="http://schemas.openxmlformats.org/drawingml/2006/main">
              <a:ext uri="{FF2B5EF4-FFF2-40B4-BE49-F238E27FC236}">
                <a16:creationId xmlns:a16="http://schemas.microsoft.com/office/drawing/2014/main" id="{6C2026C5-5FDC-40E3-8243-3EA118AD9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43250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73F3A"/>
                </a:solidFill>
              </a:defRPr>
            </a:defPPr>
            <a:lvl1pPr>
              <a:defRPr sz="2250" b="1">
                <a:solidFill>
                  <a:srgbClr val="173F3A"/>
                </a:solidFill>
              </a:defRPr>
            </a:lvl1pPr>
            <a:lvl2pPr>
              <a:defRPr sz="2250" b="1">
                <a:solidFill>
                  <a:srgbClr val="173F3A"/>
                </a:solidFill>
              </a:defRPr>
            </a:lvl2pPr>
            <a:lvl3pPr>
              <a:defRPr sz="2250" b="1">
                <a:solidFill>
                  <a:srgbClr val="173F3A"/>
                </a:solidFill>
              </a:defRPr>
            </a:lvl3pPr>
            <a:lvl4pPr>
              <a:defRPr sz="2250" b="1">
                <a:solidFill>
                  <a:srgbClr val="173F3A"/>
                </a:solidFill>
              </a:defRPr>
            </a:lvl4pPr>
            <a:lvl5pPr>
              <a:defRPr sz="2250" b="1">
                <a:solidFill>
                  <a:srgbClr val="173F3A"/>
                </a:solidFill>
              </a:defRPr>
            </a:lvl5pPr>
            <a:lvl6pPr>
              <a:defRPr sz="2250" b="1">
                <a:solidFill>
                  <a:srgbClr val="173F3A"/>
                </a:solidFill>
              </a:defRPr>
            </a:lvl6pPr>
            <a:lvl7pPr>
              <a:defRPr sz="2250" b="1">
                <a:solidFill>
                  <a:srgbClr val="173F3A"/>
                </a:solidFill>
              </a:defRPr>
            </a:lvl7pPr>
            <a:lvl8pPr>
              <a:defRPr sz="2250" b="1">
                <a:solidFill>
                  <a:srgbClr val="173F3A"/>
                </a:solidFill>
              </a:defRPr>
            </a:lvl8pPr>
            <a:lvl9pPr>
              <a:defRPr sz="2250" b="1">
                <a:solidFill>
                  <a:srgbClr val="173F3A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73F3A"/>
                </a:solidFill>
              </a:defRPr>
            </a:pPr>
            <a:r>
              <a:rPr sz="2250" b="1">
                <a:solidFill>
                  <a:srgbClr val="173F3A"/>
                </a:solidFill>
              </a:rPr>
              <a:t>testes do banco</a:t>
            </a:r>
          </a:p>
          <a:p xmlns:a="http://schemas.openxmlformats.org/drawingml/2006/main">
            <a:pPr>
              <a:defRPr sz="2250" b="1">
                <a:solidFill>
                  <a:srgbClr val="173F3A"/>
                </a:solidFill>
              </a:defRPr>
            </a:pPr>
            <a:r>
              <a:rPr sz="2250" b="1">
                <a:solidFill>
                  <a:srgbClr val="173F3A"/>
                </a:solidFill>
              </a:rPr>
              <a:t>sem falhas</a:t>
            </a:r>
          </a:p>
        </p:txBody>
      </p:sp>
      <p:sp>
        <p:nvSpPr>
          <p:cNvPr id="12" name="Escopo dos testes">
            <a:extLst xmlns:a="http://schemas.openxmlformats.org/drawingml/2006/main">
              <a:ext uri="{FF2B5EF4-FFF2-40B4-BE49-F238E27FC236}">
                <a16:creationId xmlns:a16="http://schemas.microsoft.com/office/drawing/2014/main" id="{7BB1B6B9-F243-4798-81FB-EF67B8DB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324350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344D47"/>
                </a:solidFill>
              </a:defRPr>
            </a:defPPr>
            <a:lvl1pPr>
              <a:defRPr sz="1800" b="0">
                <a:solidFill>
                  <a:srgbClr val="344D47"/>
                </a:solidFill>
              </a:defRPr>
            </a:lvl1pPr>
            <a:lvl2pPr>
              <a:defRPr sz="1800" b="0">
                <a:solidFill>
                  <a:srgbClr val="344D47"/>
                </a:solidFill>
              </a:defRPr>
            </a:lvl2pPr>
            <a:lvl3pPr>
              <a:defRPr sz="1800" b="0">
                <a:solidFill>
                  <a:srgbClr val="344D47"/>
                </a:solidFill>
              </a:defRPr>
            </a:lvl3pPr>
            <a:lvl4pPr>
              <a:defRPr sz="1800" b="0">
                <a:solidFill>
                  <a:srgbClr val="344D47"/>
                </a:solidFill>
              </a:defRPr>
            </a:lvl4pPr>
            <a:lvl5pPr>
              <a:defRPr sz="1800" b="0">
                <a:solidFill>
                  <a:srgbClr val="344D47"/>
                </a:solidFill>
              </a:defRPr>
            </a:lvl5pPr>
            <a:lvl6pPr>
              <a:defRPr sz="1800" b="0">
                <a:solidFill>
                  <a:srgbClr val="344D47"/>
                </a:solidFill>
              </a:defRPr>
            </a:lvl6pPr>
            <a:lvl7pPr>
              <a:defRPr sz="1800" b="0">
                <a:solidFill>
                  <a:srgbClr val="344D47"/>
                </a:solidFill>
              </a:defRPr>
            </a:lvl7pPr>
            <a:lvl8pPr>
              <a:defRPr sz="1800" b="0">
                <a:solidFill>
                  <a:srgbClr val="344D47"/>
                </a:solidFill>
              </a:defRPr>
            </a:lvl8pPr>
            <a:lvl9pPr>
              <a:defRPr sz="1800" b="0">
                <a:solidFill>
                  <a:srgbClr val="344D47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344D47"/>
                </a:solidFill>
              </a:defRPr>
            </a:pPr>
            <a:r>
              <a:rPr sz="1800" b="0">
                <a:solidFill>
                  <a:srgbClr val="344D47"/>
                </a:solidFill>
              </a:rPr>
              <a:t>Integridade, permissões,</a:t>
            </a:r>
          </a:p>
          <a:p xmlns:a="http://schemas.openxmlformats.org/drawingml/2006/main">
            <a:pPr>
              <a:defRPr sz="1800" b="0">
                <a:solidFill>
                  <a:srgbClr val="344D47"/>
                </a:solidFill>
              </a:defRPr>
            </a:pPr>
            <a:r>
              <a:rPr sz="1800" b="0">
                <a:solidFill>
                  <a:srgbClr val="344D47"/>
                </a:solidFill>
              </a:rPr>
              <a:t>auditoria e restauração</a:t>
            </a:r>
          </a:p>
          <a:p xmlns:a="http://schemas.openxmlformats.org/drawingml/2006/main">
            <a:pPr>
              <a:defRPr sz="1800" b="0">
                <a:solidFill>
                  <a:srgbClr val="344D47"/>
                </a:solidFill>
              </a:defRPr>
            </a:pPr>
            <a:r>
              <a:rPr sz="1800" b="0">
                <a:solidFill>
                  <a:srgbClr val="344D47"/>
                </a:solidFill>
              </a:rPr>
              <a:t>de backup.</a:t>
            </a:r>
          </a:p>
        </p:txBody>
      </p:sp>
      <p:sp>
        <p:nvSpPr>
          <p:cNvPr id="13" name="Organização">
            <a:extLst xmlns:a="http://schemas.openxmlformats.org/drawingml/2006/main">
              <a:ext uri="{FF2B5EF4-FFF2-40B4-BE49-F238E27FC236}">
                <a16:creationId xmlns:a16="http://schemas.microsoft.com/office/drawing/2014/main" id="{5F40A149-4844-488E-A8A5-4F06DA3E4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3885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46863"/>
                </a:solidFill>
              </a:defRPr>
            </a:defPPr>
            <a:lvl1pPr>
              <a:defRPr sz="1650" b="0">
                <a:solidFill>
                  <a:srgbClr val="546863"/>
                </a:solidFill>
              </a:defRPr>
            </a:lvl1pPr>
            <a:lvl2pPr>
              <a:defRPr sz="1650" b="0">
                <a:solidFill>
                  <a:srgbClr val="546863"/>
                </a:solidFill>
              </a:defRPr>
            </a:lvl2pPr>
            <a:lvl3pPr>
              <a:defRPr sz="1650" b="0">
                <a:solidFill>
                  <a:srgbClr val="546863"/>
                </a:solidFill>
              </a:defRPr>
            </a:lvl3pPr>
            <a:lvl4pPr>
              <a:defRPr sz="1650" b="0">
                <a:solidFill>
                  <a:srgbClr val="546863"/>
                </a:solidFill>
              </a:defRPr>
            </a:lvl4pPr>
            <a:lvl5pPr>
              <a:defRPr sz="1650" b="0">
                <a:solidFill>
                  <a:srgbClr val="546863"/>
                </a:solidFill>
              </a:defRPr>
            </a:lvl5pPr>
            <a:lvl6pPr>
              <a:defRPr sz="1650" b="0">
                <a:solidFill>
                  <a:srgbClr val="546863"/>
                </a:solidFill>
              </a:defRPr>
            </a:lvl6pPr>
            <a:lvl7pPr>
              <a:defRPr sz="1650" b="0">
                <a:solidFill>
                  <a:srgbClr val="546863"/>
                </a:solidFill>
              </a:defRPr>
            </a:lvl7pPr>
            <a:lvl8pPr>
              <a:defRPr sz="1650" b="0">
                <a:solidFill>
                  <a:srgbClr val="546863"/>
                </a:solidFill>
              </a:defRPr>
            </a:lvl8pPr>
            <a:lvl9pPr>
              <a:defRPr sz="1650" b="0">
                <a:solidFill>
                  <a:srgbClr val="546863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46863"/>
                </a:solidFill>
              </a:defRPr>
            </a:pPr>
            <a:r>
              <a:rPr sz="1650" b="0">
                <a:solidFill>
                  <a:srgbClr val="546863"/>
                </a:solidFill>
              </a:rPr>
              <a:t>Documentos e evidências reunidos na pasta docs/ do repositório.</a:t>
            </a:r>
          </a:p>
        </p:txBody>
      </p:sp>
    </p:spTree>
    <p:extLst>
      <p:ext uri="{BB962C8B-B14F-4D97-AF65-F5344CB8AC3E}">
        <p14:creationId xmlns:p14="http://schemas.microsoft.com/office/powerpoint/2010/main" val="11113630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2026-10-25T21:35:22.1690000Z</dcterms:created>
  <dcterms:modified xsi:type="dcterms:W3CDTF">2026-10-25T21:35:22.1690000Z</dcterms:modified>
</coreProperties>
</file>